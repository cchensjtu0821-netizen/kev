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20955000" cy="14820900" type="custom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ev-decision-quer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ev-decision-quer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09600" y="533400"/>
            <a:ext cx="6360119" cy="903637"/>
            <a:chOff x="609600" y="533400"/>
            <a:chExt cx="6360119" cy="903637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76200" cy="723900"/>
            </a:xfrm>
            <a:prstGeom prst="rect">
              <a:avLst/>
            </a:prstGeom>
            <a:solidFill>
              <a:srgbClr val="245B9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8586" y="558165"/>
              <a:ext cx="479890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rgbClr val="15263D"/>
                  </a:solidFill>
                  <a:latin typeface="+mn-lt"/>
                  <a:ea typeface="+mn-ea"/>
                  <a:cs typeface="+mn-cs"/>
                </a:rPr>
                <a:t>Kev 决策查询流程与原理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5637" y="1099661"/>
              <a:ext cx="606408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526379"/>
                  </a:solidFill>
                  <a:latin typeface="+mn-lt"/>
                  <a:ea typeface="+mn-ea"/>
                  <a:cs typeface="+mn-cs"/>
                </a:rPr>
                <a:t>文本决策推理 · 共享状态前缀 · 问题分支隔离 · 指针概率读出</a:t>
              </a:r>
            </a:p>
          </p:txBody>
        </p:sp>
      </p:grpSp>
      <p:grpSp>
        <p:nvGrpSpPr>
          <p:cNvPr id="38" name="query-main-flow"/>
          <p:cNvGrpSpPr/>
          <p:nvPr/>
        </p:nvGrpSpPr>
        <p:grpSpPr>
          <a:xfrm>
            <a:off x="598551" y="1641634"/>
            <a:ext cx="19746849" cy="1968341"/>
            <a:chOff x="598551" y="1641634"/>
            <a:chExt cx="19746849" cy="1968341"/>
          </a:xfrm>
        </p:grpSpPr>
        <p:sp>
          <p:nvSpPr>
            <p:cNvPr id="6" name="TextBox 6"/>
            <p:cNvSpPr txBox="1"/>
            <p:nvPr/>
          </p:nvSpPr>
          <p:spPr>
            <a:xfrm>
              <a:off x="598551" y="1641634"/>
              <a:ext cx="173898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45B92"/>
                  </a:solidFill>
                  <a:latin typeface="+mn-lt"/>
                  <a:ea typeface="+mn-ea"/>
                  <a:cs typeface="+mn-cs"/>
                </a:rPr>
                <a:t>A 查询主流程</a:t>
              </a:r>
            </a:p>
          </p:txBody>
        </p:sp>
        <p:grpSp>
          <p:nvGrpSpPr>
            <p:cNvPr id="31" name="query-steps"/>
            <p:cNvGrpSpPr/>
            <p:nvPr/>
          </p:nvGrpSpPr>
          <p:grpSpPr>
            <a:xfrm>
              <a:off x="609600" y="2143125"/>
              <a:ext cx="19735800" cy="1466850"/>
              <a:chOff x="609600" y="2143125"/>
              <a:chExt cx="19735800" cy="1466850"/>
            </a:xfrm>
          </p:grpSpPr>
          <p:grpSp>
            <p:nvGrpSpPr>
              <p:cNvPr id="10" name="step-request"/>
              <p:cNvGrpSpPr/>
              <p:nvPr/>
            </p:nvGrpSpPr>
            <p:grpSpPr>
              <a:xfrm>
                <a:off x="609600" y="2143125"/>
                <a:ext cx="3019425" cy="1466850"/>
                <a:chOff x="609600" y="2143125"/>
                <a:chExt cx="3019425" cy="1466850"/>
              </a:xfrm>
            </p:grpSpPr>
            <p:sp>
              <p:nvSpPr>
                <p:cNvPr id="7" name="Rectangle 7"/>
                <p:cNvSpPr/>
                <p:nvPr/>
              </p:nvSpPr>
              <p:spPr>
                <a:xfrm>
                  <a:off x="609600" y="2143125"/>
                  <a:ext cx="3019425" cy="1466850"/>
                </a:xfrm>
                <a:prstGeom prst="roundRect">
                  <a:avLst>
                    <a:gd name="adj" fmla="val 6494"/>
                  </a:avLst>
                </a:prstGeom>
                <a:solidFill>
                  <a:srgbClr val="EEF4FA"/>
                </a:solidFill>
                <a:ln w="17145">
                  <a:solidFill>
                    <a:srgbClr val="245B92"/>
                  </a:solidFill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790194" y="2323148"/>
                  <a:ext cx="192029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>
                      <a:solidFill>
                        <a:srgbClr val="245B92"/>
                      </a:solidFill>
                      <a:latin typeface="+mn-lt"/>
                      <a:ea typeface="+mn-ea"/>
                      <a:cs typeface="+mn-cs"/>
                    </a:rPr>
                    <a:t>01 输入决策请求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792099" y="2773204"/>
                  <a:ext cx="2002335" cy="641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2625"/>
                    </a:lnSpc>
                  </a:pPr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状态 S：待分析的文本</a:t>
                  </a:r>
                  <a:br/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问题 Q：指令与候选项</a:t>
                  </a:r>
                </a:p>
              </p:txBody>
            </p:sp>
          </p:grpSp>
          <p:grpSp>
            <p:nvGrpSpPr>
              <p:cNvPr id="14" name="step-encode"/>
              <p:cNvGrpSpPr/>
              <p:nvPr/>
            </p:nvGrpSpPr>
            <p:grpSpPr>
              <a:xfrm>
                <a:off x="3952875" y="2143125"/>
                <a:ext cx="3019425" cy="1466850"/>
                <a:chOff x="3952875" y="2143125"/>
                <a:chExt cx="3019425" cy="1466850"/>
              </a:xfrm>
            </p:grpSpPr>
            <p:sp>
              <p:nvSpPr>
                <p:cNvPr id="11" name="Rectangle 11"/>
                <p:cNvSpPr/>
                <p:nvPr/>
              </p:nvSpPr>
              <p:spPr>
                <a:xfrm>
                  <a:off x="3952875" y="2143125"/>
                  <a:ext cx="3019425" cy="1466850"/>
                </a:xfrm>
                <a:prstGeom prst="roundRect">
                  <a:avLst>
                    <a:gd name="adj" fmla="val 6494"/>
                  </a:avLst>
                </a:prstGeom>
                <a:solidFill>
                  <a:srgbClr val="EEF4FA"/>
                </a:solidFill>
                <a:ln w="17145">
                  <a:solidFill>
                    <a:srgbClr val="245B92"/>
                  </a:solidFill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4133469" y="2323148"/>
                  <a:ext cx="192029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>
                      <a:solidFill>
                        <a:srgbClr val="245B92"/>
                      </a:solidFill>
                      <a:latin typeface="+mn-lt"/>
                      <a:ea typeface="+mn-ea"/>
                      <a:cs typeface="+mn-cs"/>
                    </a:rPr>
                    <a:t>02 规范化与编码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4135374" y="2773204"/>
                  <a:ext cx="1821942" cy="641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2625"/>
                    </a:lnSpc>
                  </a:pPr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统一任务格式并分词</a:t>
                  </a:r>
                  <a:br/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标记边界、检查长度</a:t>
                  </a:r>
                </a:p>
              </p:txBody>
            </p:sp>
          </p:grpSp>
          <p:grpSp>
            <p:nvGrpSpPr>
              <p:cNvPr id="18" name="step-backbone"/>
              <p:cNvGrpSpPr/>
              <p:nvPr/>
            </p:nvGrpSpPr>
            <p:grpSpPr>
              <a:xfrm>
                <a:off x="7296150" y="2143125"/>
                <a:ext cx="3019425" cy="1466850"/>
                <a:chOff x="7296150" y="2143125"/>
                <a:chExt cx="3019425" cy="1466850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7296150" y="2143125"/>
                  <a:ext cx="3019425" cy="1466850"/>
                </a:xfrm>
                <a:prstGeom prst="roundRect">
                  <a:avLst>
                    <a:gd name="adj" fmla="val 6494"/>
                  </a:avLst>
                </a:prstGeom>
                <a:solidFill>
                  <a:srgbClr val="EEF4FA"/>
                </a:solidFill>
                <a:ln w="17145">
                  <a:solidFill>
                    <a:srgbClr val="245B92"/>
                  </a:solidFill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476744" y="2323148"/>
                  <a:ext cx="192029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>
                      <a:solidFill>
                        <a:srgbClr val="245B92"/>
                      </a:solidFill>
                      <a:latin typeface="+mn-lt"/>
                      <a:ea typeface="+mn-ea"/>
                      <a:cs typeface="+mn-cs"/>
                    </a:rPr>
                    <a:t>03 因果骨干前向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478649" y="2773204"/>
                  <a:ext cx="2022602" cy="641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2625"/>
                    </a:lnSpc>
                  </a:pPr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共享状态，独立问题行</a:t>
                  </a:r>
                  <a:br/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仅预填充，提取隐状态</a:t>
                  </a:r>
                </a:p>
              </p:txBody>
            </p:sp>
          </p:grpSp>
          <p:grpSp>
            <p:nvGrpSpPr>
              <p:cNvPr id="22" name="step-readout"/>
              <p:cNvGrpSpPr/>
              <p:nvPr/>
            </p:nvGrpSpPr>
            <p:grpSpPr>
              <a:xfrm>
                <a:off x="10639425" y="2143125"/>
                <a:ext cx="3019425" cy="1466850"/>
                <a:chOff x="10639425" y="2143125"/>
                <a:chExt cx="3019425" cy="1466850"/>
              </a:xfrm>
            </p:grpSpPr>
            <p:sp>
              <p:nvSpPr>
                <p:cNvPr id="19" name="Rectangle 19"/>
                <p:cNvSpPr/>
                <p:nvPr/>
              </p:nvSpPr>
              <p:spPr>
                <a:xfrm>
                  <a:off x="10639425" y="2143125"/>
                  <a:ext cx="3019425" cy="1466850"/>
                </a:xfrm>
                <a:prstGeom prst="roundRect">
                  <a:avLst>
                    <a:gd name="adj" fmla="val 6494"/>
                  </a:avLst>
                </a:prstGeom>
                <a:solidFill>
                  <a:srgbClr val="EEF4FA"/>
                </a:solidFill>
                <a:ln w="17145">
                  <a:solidFill>
                    <a:srgbClr val="245B92"/>
                  </a:solidFill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0820019" y="2323148"/>
                  <a:ext cx="192029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>
                      <a:solidFill>
                        <a:srgbClr val="245B92"/>
                      </a:solidFill>
                      <a:latin typeface="+mn-lt"/>
                      <a:ea typeface="+mn-ea"/>
                      <a:cs typeface="+mn-cs"/>
                    </a:rPr>
                    <a:t>04 收集读出表示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0821924" y="2773204"/>
                  <a:ext cx="1805990" cy="641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2625"/>
                    </a:lnSpc>
                  </a:pPr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问题：&lt;decide&gt; 位置</a:t>
                  </a:r>
                  <a:br/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选项：&lt;/opt&gt; 位置</a:t>
                  </a:r>
                </a:p>
              </p:txBody>
            </p:sp>
          </p:grpSp>
          <p:grpSp>
            <p:nvGrpSpPr>
              <p:cNvPr id="26" name="step-probability"/>
              <p:cNvGrpSpPr/>
              <p:nvPr/>
            </p:nvGrpSpPr>
            <p:grpSpPr>
              <a:xfrm>
                <a:off x="13982700" y="2143125"/>
                <a:ext cx="3019425" cy="1466850"/>
                <a:chOff x="13982700" y="2143125"/>
                <a:chExt cx="3019425" cy="146685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13982700" y="2143125"/>
                  <a:ext cx="3019425" cy="1466850"/>
                </a:xfrm>
                <a:prstGeom prst="roundRect">
                  <a:avLst>
                    <a:gd name="adj" fmla="val 6494"/>
                  </a:avLst>
                </a:prstGeom>
                <a:solidFill>
                  <a:srgbClr val="EDF7F4"/>
                </a:solidFill>
                <a:ln w="17145">
                  <a:solidFill>
                    <a:srgbClr val="20766C"/>
                  </a:solidFill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4163294" y="2323148"/>
                  <a:ext cx="192029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>
                      <a:solidFill>
                        <a:srgbClr val="20766C"/>
                      </a:solidFill>
                      <a:latin typeface="+mn-lt"/>
                      <a:ea typeface="+mn-ea"/>
                      <a:cs typeface="+mn-cs"/>
                    </a:rPr>
                    <a:t>05 计算候选概率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4165199" y="2773204"/>
                  <a:ext cx="1935114" cy="641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2625"/>
                    </a:lnSpc>
                  </a:pPr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指针头打分 → 除以 T</a:t>
                  </a:r>
                  <a:br/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Softmax 得到选项分布</a:t>
                  </a:r>
                </a:p>
              </p:txBody>
            </p:sp>
          </p:grpSp>
          <p:grpSp>
            <p:nvGrpSpPr>
              <p:cNvPr id="30" name="step-answer"/>
              <p:cNvGrpSpPr/>
              <p:nvPr/>
            </p:nvGrpSpPr>
            <p:grpSpPr>
              <a:xfrm>
                <a:off x="17325975" y="2143125"/>
                <a:ext cx="3019425" cy="1466850"/>
                <a:chOff x="17325975" y="2143125"/>
                <a:chExt cx="3019425" cy="1466850"/>
              </a:xfrm>
            </p:grpSpPr>
            <p:sp>
              <p:nvSpPr>
                <p:cNvPr id="27" name="Rectangle 27"/>
                <p:cNvSpPr/>
                <p:nvPr/>
              </p:nvSpPr>
              <p:spPr>
                <a:xfrm>
                  <a:off x="17325975" y="2143125"/>
                  <a:ext cx="3019425" cy="1466850"/>
                </a:xfrm>
                <a:prstGeom prst="roundRect">
                  <a:avLst>
                    <a:gd name="adj" fmla="val 6494"/>
                  </a:avLst>
                </a:prstGeom>
                <a:solidFill>
                  <a:srgbClr val="EDF7F4"/>
                </a:solidFill>
                <a:ln w="17145">
                  <a:solidFill>
                    <a:srgbClr val="20766C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7506569" y="2323148"/>
                  <a:ext cx="2182807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>
                      <a:solidFill>
                        <a:srgbClr val="20766C"/>
                      </a:solidFill>
                      <a:latin typeface="+mn-lt"/>
                      <a:ea typeface="+mn-ea"/>
                      <a:cs typeface="+mn-cs"/>
                    </a:rPr>
                    <a:t>06 返回结构化结果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7508474" y="2773204"/>
                  <a:ext cx="1957749" cy="641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2625"/>
                    </a:lnSpc>
                  </a:pPr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判断概率 / 选择 / 评分</a:t>
                  </a:r>
                  <a:br/>
                  <a:r>
                    <a:rPr lang="zh-CN" sz="1580" dirty="0">
                      <a:solidFill>
                        <a:srgbClr val="15263D"/>
                      </a:solidFill>
                      <a:latin typeface="+mn-lt"/>
                      <a:ea typeface="+mn-ea"/>
                      <a:cs typeface="+mn-cs"/>
                    </a:rPr>
                    <a:t>按问题编号组织答案</a:t>
                  </a:r>
                </a:p>
              </p:txBody>
            </p:sp>
          </p:grpSp>
        </p:grpSp>
        <p:grpSp>
          <p:nvGrpSpPr>
            <p:cNvPr id="37" name="flow-connections"/>
            <p:cNvGrpSpPr/>
            <p:nvPr/>
          </p:nvGrpSpPr>
          <p:grpSpPr>
            <a:xfrm>
              <a:off x="3657600" y="2876550"/>
              <a:ext cx="13630275" cy="1"/>
              <a:chOff x="3657600" y="2876550"/>
              <a:chExt cx="13630275" cy="1"/>
            </a:xfrm>
          </p:grpSpPr>
          <p:sp>
            <p:nvSpPr>
              <p:cNvPr id="32" name="Line 32"/>
              <p:cNvSpPr/>
              <p:nvPr/>
            </p:nvSpPr>
            <p:spPr>
              <a:xfrm>
                <a:off x="3657600" y="2876550"/>
                <a:ext cx="257175" cy="1"/>
              </a:xfrm>
              <a:prstGeom prst="line">
                <a:avLst/>
              </a:prstGeom>
              <a:noFill/>
              <a:ln w="21908">
                <a:solidFill>
                  <a:srgbClr val="245B92"/>
                </a:solidFill>
                <a:tailEnd type="triangle" w="lg" len="lg"/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7000875" y="2876550"/>
                <a:ext cx="257175" cy="1"/>
              </a:xfrm>
              <a:prstGeom prst="line">
                <a:avLst/>
              </a:prstGeom>
              <a:noFill/>
              <a:ln w="21908">
                <a:solidFill>
                  <a:srgbClr val="245B92"/>
                </a:solidFill>
                <a:tailEnd type="triangle" w="lg" len="lg"/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10344150" y="2876550"/>
                <a:ext cx="257175" cy="1"/>
              </a:xfrm>
              <a:prstGeom prst="line">
                <a:avLst/>
              </a:prstGeom>
              <a:noFill/>
              <a:ln w="21908">
                <a:solidFill>
                  <a:srgbClr val="245B92"/>
                </a:solidFill>
                <a:tailEnd type="triangle" w="lg" len="lg"/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13687425" y="2876550"/>
                <a:ext cx="257175" cy="1"/>
              </a:xfrm>
              <a:prstGeom prst="line">
                <a:avLst/>
              </a:prstGeom>
              <a:noFill/>
              <a:ln w="21908">
                <a:solidFill>
                  <a:srgbClr val="245B92"/>
                </a:solidFill>
                <a:tailEnd type="triangle" w="lg" len="lg"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17030700" y="2876550"/>
                <a:ext cx="257175" cy="1"/>
              </a:xfrm>
              <a:prstGeom prst="line">
                <a:avLst/>
              </a:prstGeom>
              <a:noFill/>
              <a:ln w="21908">
                <a:solidFill>
                  <a:srgbClr val="245B92"/>
                </a:solidFill>
                <a:tailEnd type="triangle" w="lg" len="lg"/>
              </a:ln>
            </p:spPr>
          </p:sp>
        </p:grpSp>
      </p:grpSp>
      <p:grpSp>
        <p:nvGrpSpPr>
          <p:cNvPr id="87" name="shared-state-and-question-isolation"/>
          <p:cNvGrpSpPr/>
          <p:nvPr/>
        </p:nvGrpSpPr>
        <p:grpSpPr>
          <a:xfrm>
            <a:off x="609600" y="4048125"/>
            <a:ext cx="11668125" cy="7524750"/>
            <a:chOff x="609600" y="4048125"/>
            <a:chExt cx="11668125" cy="7524750"/>
          </a:xfrm>
        </p:grpSpPr>
        <p:sp>
          <p:nvSpPr>
            <p:cNvPr id="39" name="Rectangle 39"/>
            <p:cNvSpPr/>
            <p:nvPr/>
          </p:nvSpPr>
          <p:spPr>
            <a:xfrm>
              <a:off x="609600" y="4048125"/>
              <a:ext cx="11668125" cy="7524750"/>
            </a:xfrm>
            <a:prstGeom prst="roundRect">
              <a:avLst>
                <a:gd name="adj" fmla="val 1266"/>
              </a:avLst>
            </a:prstGeom>
            <a:solidFill>
              <a:srgbClr val="FFFFFF"/>
            </a:solidFill>
            <a:ln w="17145">
              <a:solidFill>
                <a:srgbClr val="BAC7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5726" y="4251484"/>
              <a:ext cx="3489081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45B92"/>
                  </a:solidFill>
                  <a:latin typeface="+mn-lt"/>
                  <a:ea typeface="+mn-ea"/>
                  <a:cs typeface="+mn-cs"/>
                </a:rPr>
                <a:t>B 共享状态与独立问题分支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8393" y="4679632"/>
              <a:ext cx="46294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9"/>
                  </a:solidFill>
                  <a:latin typeface="+mn-lt"/>
                  <a:ea typeface="+mn-ea"/>
                  <a:cs typeface="+mn-cs"/>
                </a:rPr>
                <a:t>当前 Qwen3.5 / Qwen3.8 文本版的在线推理路径</a:t>
              </a:r>
            </a:p>
          </p:txBody>
        </p:sp>
        <p:grpSp>
          <p:nvGrpSpPr>
            <p:cNvPr id="45" name="shared-prefix"/>
            <p:cNvGrpSpPr/>
            <p:nvPr/>
          </p:nvGrpSpPr>
          <p:grpSpPr>
            <a:xfrm>
              <a:off x="3333750" y="5124450"/>
              <a:ext cx="6238875" cy="1076325"/>
              <a:chOff x="3333750" y="5124450"/>
              <a:chExt cx="6238875" cy="1076325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3333750" y="5124450"/>
                <a:ext cx="6238875" cy="1076325"/>
              </a:xfrm>
              <a:prstGeom prst="roundRect">
                <a:avLst>
                  <a:gd name="adj" fmla="val 8850"/>
                </a:avLst>
              </a:prstGeom>
              <a:solidFill>
                <a:srgbClr val="EEF4FA"/>
              </a:solidFill>
              <a:ln w="17145">
                <a:solidFill>
                  <a:srgbClr val="245B9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353650" y="5303044"/>
                <a:ext cx="419907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dirty="0">
                    <a:solidFill>
                      <a:srgbClr val="245B92"/>
                    </a:solidFill>
                    <a:latin typeface="+mn-lt"/>
                    <a:ea typeface="+mn-ea"/>
                    <a:cs typeface="+mn-cs"/>
                  </a:rPr>
                  <a:t>状态 S → 因果预填充 → 共享前缀缓存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416562" y="5727382"/>
                <a:ext cx="407325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526379"/>
                    </a:solidFill>
                    <a:latin typeface="+mn-lt"/>
                    <a:ea typeface="+mn-ea"/>
                    <a:cs typeface="+mn-cs"/>
                  </a:rPr>
                  <a:t>注意力 KV + DeltaNet 循环状态与卷积状态</a:t>
                </a:r>
              </a:p>
            </p:txBody>
          </p:sp>
        </p:grpSp>
        <p:grpSp>
          <p:nvGrpSpPr>
            <p:cNvPr id="51" name="prefix-fanout"/>
            <p:cNvGrpSpPr/>
            <p:nvPr/>
          </p:nvGrpSpPr>
          <p:grpSpPr>
            <a:xfrm>
              <a:off x="2667000" y="6200775"/>
              <a:ext cx="7572376" cy="666750"/>
              <a:chOff x="2667000" y="6200775"/>
              <a:chExt cx="7572376" cy="666750"/>
            </a:xfrm>
          </p:grpSpPr>
          <p:sp>
            <p:nvSpPr>
              <p:cNvPr id="46" name="Line 46"/>
              <p:cNvSpPr/>
              <p:nvPr/>
            </p:nvSpPr>
            <p:spPr>
              <a:xfrm>
                <a:off x="6453188" y="6200775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4325">
                    <a:moveTo>
                      <a:pt x="0" y="0"/>
                    </a:moveTo>
                    <a:lnTo>
                      <a:pt x="0" y="314325"/>
                    </a:lnTo>
                  </a:path>
                </a:pathLst>
              </a:custGeom>
              <a:noFill/>
              <a:ln w="21908">
                <a:solidFill>
                  <a:srgbClr val="245B92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2667000" y="6515100"/>
                <a:ext cx="7572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572375" h="9525">
                    <a:moveTo>
                      <a:pt x="0" y="0"/>
                    </a:moveTo>
                    <a:lnTo>
                      <a:pt x="7572375" y="0"/>
                    </a:lnTo>
                  </a:path>
                </a:pathLst>
              </a:custGeom>
              <a:noFill/>
              <a:ln w="21908">
                <a:solidFill>
                  <a:srgbClr val="245B92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2667000" y="6515100"/>
                <a:ext cx="1" cy="352425"/>
              </a:xfrm>
              <a:prstGeom prst="line">
                <a:avLst/>
              </a:prstGeom>
              <a:noFill/>
              <a:ln w="21908">
                <a:solidFill>
                  <a:srgbClr val="245B92"/>
                </a:solidFill>
                <a:tailEnd type="triangle" w="lg" len="lg"/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6453188" y="6515100"/>
                <a:ext cx="1" cy="352425"/>
              </a:xfrm>
              <a:prstGeom prst="line">
                <a:avLst/>
              </a:prstGeom>
              <a:noFill/>
              <a:ln w="21908">
                <a:solidFill>
                  <a:srgbClr val="245B92"/>
                </a:solidFill>
                <a:tailEnd type="triangle" w="lg" len="lg"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10239375" y="6515100"/>
                <a:ext cx="1" cy="352425"/>
              </a:xfrm>
              <a:prstGeom prst="line">
                <a:avLst/>
              </a:prstGeom>
              <a:noFill/>
              <a:ln w="21908">
                <a:solidFill>
                  <a:srgbClr val="245B92"/>
                </a:solidFill>
                <a:tailEnd type="triangle" w="lg" len="lg"/>
              </a:ln>
            </p:spPr>
          </p:sp>
        </p:grpSp>
        <p:grpSp>
          <p:nvGrpSpPr>
            <p:cNvPr id="62" name="question-one"/>
            <p:cNvGrpSpPr/>
            <p:nvPr/>
          </p:nvGrpSpPr>
          <p:grpSpPr>
            <a:xfrm>
              <a:off x="1047750" y="6867525"/>
              <a:ext cx="3238500" cy="3295650"/>
              <a:chOff x="1047750" y="6867525"/>
              <a:chExt cx="3238500" cy="32956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1047750" y="6867525"/>
                <a:ext cx="3238500" cy="2295525"/>
              </a:xfrm>
              <a:prstGeom prst="roundRect">
                <a:avLst>
                  <a:gd name="adj" fmla="val 4149"/>
                </a:avLst>
              </a:prstGeom>
              <a:solidFill>
                <a:srgbClr val="F8FAFC"/>
              </a:solidFill>
              <a:ln w="17145">
                <a:solidFill>
                  <a:srgbClr val="BAC7D5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963340" y="7027069"/>
                <a:ext cx="1407319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dirty="0">
                    <a:solidFill>
                      <a:srgbClr val="245B92"/>
                    </a:solidFill>
                    <a:latin typeface="+mn-lt"/>
                    <a:ea typeface="+mn-ea"/>
                    <a:cs typeface="+mn-cs"/>
                  </a:rPr>
                  <a:t>问题分支 Q1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242415" y="7451408"/>
                <a:ext cx="8491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15263D"/>
                    </a:solidFill>
                    <a:latin typeface="+mn-lt"/>
                    <a:ea typeface="+mn-ea"/>
                    <a:cs typeface="+mn-cs"/>
                  </a:rPr>
                  <a:t>&lt;q&gt; 指令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646304" y="7821454"/>
                <a:ext cx="204139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rgbClr val="15263D"/>
                    </a:solidFill>
                    <a:latin typeface="+mn-lt"/>
                    <a:ea typeface="+mn-ea"/>
                    <a:cs typeface="+mn-cs"/>
                  </a:rPr>
                  <a:t>&lt;opt&gt; 候选项 &lt;/opt&gt; …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2230524" y="8167211"/>
                <a:ext cx="87295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dirty="0">
                    <a:solidFill>
                      <a:srgbClr val="20766C"/>
                    </a:solidFill>
                    <a:latin typeface="+mn-lt"/>
                    <a:ea typeface="+mn-ea"/>
                    <a:cs typeface="+mn-cs"/>
                  </a:rPr>
                  <a:t>&lt;decide&gt;</a:t>
                </a:r>
              </a:p>
            </p:txBody>
          </p:sp>
          <p:sp>
            <p:nvSpPr>
              <p:cNvPr id="57" name="Line 57"/>
              <p:cNvSpPr/>
              <p:nvPr/>
            </p:nvSpPr>
            <p:spPr>
              <a:xfrm>
                <a:off x="1276350" y="8524875"/>
                <a:ext cx="2781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781300" h="9525">
                    <a:moveTo>
                      <a:pt x="0" y="0"/>
                    </a:moveTo>
                    <a:lnTo>
                      <a:pt x="2781300" y="0"/>
                    </a:lnTo>
                  </a:path>
                </a:pathLst>
              </a:custGeom>
              <a:noFill/>
              <a:ln w="14288">
                <a:solidFill>
                  <a:srgbClr val="BAC7D5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489151" y="8697754"/>
                <a:ext cx="23556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rgbClr val="526379"/>
                    </a:solidFill>
                    <a:latin typeface="+mn-lt"/>
                    <a:ea typeface="+mn-ea"/>
                    <a:cs typeface="+mn-cs"/>
                  </a:rPr>
                  <a:t>从共享前缀继续因果前向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2667000" y="9163050"/>
                <a:ext cx="1" cy="352425"/>
              </a:xfrm>
              <a:prstGeom prst="line">
                <a:avLst/>
              </a:prstGeom>
              <a:noFill/>
              <a:ln w="21908">
                <a:solidFill>
                  <a:srgbClr val="20766C"/>
                </a:solidFill>
                <a:tailEnd type="triangle" w="lg" len="lg"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1047750" y="9515475"/>
                <a:ext cx="32385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EDF7F4"/>
              </a:solidFill>
              <a:ln w="17145">
                <a:solidFill>
                  <a:srgbClr val="20766C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553534" y="9746932"/>
                <a:ext cx="2226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20766C"/>
                    </a:solidFill>
                    <a:latin typeface="+mn-lt"/>
                    <a:ea typeface="+mn-ea"/>
                    <a:cs typeface="+mn-cs"/>
                  </a:rPr>
                  <a:t>问题表示 + 各候选表示</a:t>
                </a:r>
              </a:p>
            </p:txBody>
          </p:sp>
        </p:grpSp>
        <p:grpSp>
          <p:nvGrpSpPr>
            <p:cNvPr id="73" name="question-two"/>
            <p:cNvGrpSpPr/>
            <p:nvPr/>
          </p:nvGrpSpPr>
          <p:grpSpPr>
            <a:xfrm>
              <a:off x="4833938" y="6867525"/>
              <a:ext cx="3238500" cy="3295650"/>
              <a:chOff x="4833938" y="6867525"/>
              <a:chExt cx="3238500" cy="32956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4833938" y="6867525"/>
                <a:ext cx="3238500" cy="2295525"/>
              </a:xfrm>
              <a:prstGeom prst="roundRect">
                <a:avLst>
                  <a:gd name="adj" fmla="val 4149"/>
                </a:avLst>
              </a:prstGeom>
              <a:solidFill>
                <a:srgbClr val="F8FAFC"/>
              </a:solidFill>
              <a:ln w="17145">
                <a:solidFill>
                  <a:srgbClr val="BAC7D5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5749528" y="7027069"/>
                <a:ext cx="1407319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dirty="0">
                    <a:solidFill>
                      <a:srgbClr val="245B92"/>
                    </a:solidFill>
                    <a:latin typeface="+mn-lt"/>
                    <a:ea typeface="+mn-ea"/>
                    <a:cs typeface="+mn-cs"/>
                  </a:rPr>
                  <a:t>问题分支 Q2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028603" y="7451408"/>
                <a:ext cx="8491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15263D"/>
                    </a:solidFill>
                    <a:latin typeface="+mn-lt"/>
                    <a:ea typeface="+mn-ea"/>
                    <a:cs typeface="+mn-cs"/>
                  </a:rPr>
                  <a:t>&lt;q&gt; 指令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432492" y="7821454"/>
                <a:ext cx="204139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rgbClr val="15263D"/>
                    </a:solidFill>
                    <a:latin typeface="+mn-lt"/>
                    <a:ea typeface="+mn-ea"/>
                    <a:cs typeface="+mn-cs"/>
                  </a:rPr>
                  <a:t>&lt;opt&gt; 候选项 &lt;/opt&gt; …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6016712" y="8167211"/>
                <a:ext cx="87295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dirty="0">
                    <a:solidFill>
                      <a:srgbClr val="20766C"/>
                    </a:solidFill>
                    <a:latin typeface="+mn-lt"/>
                    <a:ea typeface="+mn-ea"/>
                    <a:cs typeface="+mn-cs"/>
                  </a:rPr>
                  <a:t>&lt;decide&gt;</a:t>
                </a:r>
              </a:p>
            </p:txBody>
          </p:sp>
          <p:sp>
            <p:nvSpPr>
              <p:cNvPr id="68" name="Line 68"/>
              <p:cNvSpPr/>
              <p:nvPr/>
            </p:nvSpPr>
            <p:spPr>
              <a:xfrm>
                <a:off x="5062538" y="8524875"/>
                <a:ext cx="2781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781300" h="9525">
                    <a:moveTo>
                      <a:pt x="0" y="0"/>
                    </a:moveTo>
                    <a:lnTo>
                      <a:pt x="2781300" y="0"/>
                    </a:lnTo>
                  </a:path>
                </a:pathLst>
              </a:custGeom>
              <a:noFill/>
              <a:ln w="14288">
                <a:solidFill>
                  <a:srgbClr val="BAC7D5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5275339" y="8697754"/>
                <a:ext cx="23556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rgbClr val="526379"/>
                    </a:solidFill>
                    <a:latin typeface="+mn-lt"/>
                    <a:ea typeface="+mn-ea"/>
                    <a:cs typeface="+mn-cs"/>
                  </a:rPr>
                  <a:t>从共享前缀继续因果前向</a:t>
                </a:r>
              </a:p>
            </p:txBody>
          </p:sp>
          <p:sp>
            <p:nvSpPr>
              <p:cNvPr id="70" name="Line 70"/>
              <p:cNvSpPr/>
              <p:nvPr/>
            </p:nvSpPr>
            <p:spPr>
              <a:xfrm>
                <a:off x="6453188" y="9163050"/>
                <a:ext cx="1" cy="352425"/>
              </a:xfrm>
              <a:prstGeom prst="line">
                <a:avLst/>
              </a:prstGeom>
              <a:noFill/>
              <a:ln w="21908">
                <a:solidFill>
                  <a:srgbClr val="20766C"/>
                </a:solidFill>
                <a:tailEnd type="triangle" w="lg" len="lg"/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4833938" y="9515475"/>
                <a:ext cx="32385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EDF7F4"/>
              </a:solidFill>
              <a:ln w="17145">
                <a:solidFill>
                  <a:srgbClr val="20766C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5339721" y="9746932"/>
                <a:ext cx="2226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20766C"/>
                    </a:solidFill>
                    <a:latin typeface="+mn-lt"/>
                    <a:ea typeface="+mn-ea"/>
                    <a:cs typeface="+mn-cs"/>
                  </a:rPr>
                  <a:t>问题表示 + 各候选表示</a:t>
                </a:r>
              </a:p>
            </p:txBody>
          </p:sp>
        </p:grpSp>
        <p:grpSp>
          <p:nvGrpSpPr>
            <p:cNvPr id="84" name="question-m"/>
            <p:cNvGrpSpPr/>
            <p:nvPr/>
          </p:nvGrpSpPr>
          <p:grpSpPr>
            <a:xfrm>
              <a:off x="8620125" y="6867525"/>
              <a:ext cx="3238500" cy="3295650"/>
              <a:chOff x="8620125" y="6867525"/>
              <a:chExt cx="3238500" cy="32956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8620125" y="6867525"/>
                <a:ext cx="3238500" cy="2295525"/>
              </a:xfrm>
              <a:prstGeom prst="roundRect">
                <a:avLst>
                  <a:gd name="adj" fmla="val 4149"/>
                </a:avLst>
              </a:prstGeom>
              <a:solidFill>
                <a:srgbClr val="F8FAFC"/>
              </a:solidFill>
              <a:ln w="17145">
                <a:solidFill>
                  <a:srgbClr val="BAC7D5"/>
                </a:solidFill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9502754" y="7027069"/>
                <a:ext cx="147324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dirty="0">
                    <a:solidFill>
                      <a:srgbClr val="245B92"/>
                    </a:solidFill>
                    <a:latin typeface="+mn-lt"/>
                    <a:ea typeface="+mn-ea"/>
                    <a:cs typeface="+mn-cs"/>
                  </a:rPr>
                  <a:t>问题分支 Qm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814790" y="7451408"/>
                <a:ext cx="8491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15263D"/>
                    </a:solidFill>
                    <a:latin typeface="+mn-lt"/>
                    <a:ea typeface="+mn-ea"/>
                    <a:cs typeface="+mn-cs"/>
                  </a:rPr>
                  <a:t>&lt;q&gt; 指令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218679" y="7821454"/>
                <a:ext cx="2041391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rgbClr val="15263D"/>
                    </a:solidFill>
                    <a:latin typeface="+mn-lt"/>
                    <a:ea typeface="+mn-ea"/>
                    <a:cs typeface="+mn-cs"/>
                  </a:rPr>
                  <a:t>&lt;opt&gt; 候选项 &lt;/opt&gt; …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802899" y="8167211"/>
                <a:ext cx="87295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720" dirty="0">
                    <a:solidFill>
                      <a:srgbClr val="20766C"/>
                    </a:solidFill>
                    <a:latin typeface="+mn-lt"/>
                    <a:ea typeface="+mn-ea"/>
                    <a:cs typeface="+mn-cs"/>
                  </a:rPr>
                  <a:t>&lt;decide&gt;</a:t>
                </a: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8848725" y="8524875"/>
                <a:ext cx="2781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781300" h="9525">
                    <a:moveTo>
                      <a:pt x="0" y="0"/>
                    </a:moveTo>
                    <a:lnTo>
                      <a:pt x="2781300" y="0"/>
                    </a:lnTo>
                  </a:path>
                </a:pathLst>
              </a:custGeom>
              <a:noFill/>
              <a:ln w="14288">
                <a:solidFill>
                  <a:srgbClr val="BAC7D5"/>
                </a:solidFill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9061526" y="8697754"/>
                <a:ext cx="2355698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80" dirty="0">
                    <a:solidFill>
                      <a:srgbClr val="526379"/>
                    </a:solidFill>
                    <a:latin typeface="+mn-lt"/>
                    <a:ea typeface="+mn-ea"/>
                    <a:cs typeface="+mn-cs"/>
                  </a:rPr>
                  <a:t>从共享前缀继续因果前向</a:t>
                </a:r>
              </a:p>
            </p:txBody>
          </p:sp>
          <p:sp>
            <p:nvSpPr>
              <p:cNvPr id="81" name="Line 81"/>
              <p:cNvSpPr/>
              <p:nvPr/>
            </p:nvSpPr>
            <p:spPr>
              <a:xfrm>
                <a:off x="10239375" y="9163050"/>
                <a:ext cx="1" cy="352425"/>
              </a:xfrm>
              <a:prstGeom prst="line">
                <a:avLst/>
              </a:prstGeom>
              <a:noFill/>
              <a:ln w="21908">
                <a:solidFill>
                  <a:srgbClr val="20766C"/>
                </a:solidFill>
                <a:tailEnd type="triangle" w="lg" len="lg"/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8620125" y="9515475"/>
                <a:ext cx="32385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EDF7F4"/>
              </a:solidFill>
              <a:ln w="17145">
                <a:solidFill>
                  <a:srgbClr val="20766C"/>
                </a:solidFill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9125909" y="9746932"/>
                <a:ext cx="22269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20766C"/>
                    </a:solidFill>
                    <a:latin typeface="+mn-lt"/>
                    <a:ea typeface="+mn-ea"/>
                    <a:cs typeface="+mn-cs"/>
                  </a:rPr>
                  <a:t>问题表示 + 各候选表示</a:t>
                </a:r>
              </a:p>
            </p:txBody>
          </p:sp>
        </p:grpSp>
        <p:sp>
          <p:nvSpPr>
            <p:cNvPr id="85" name="TextBox 85"/>
            <p:cNvSpPr txBox="1"/>
            <p:nvPr/>
          </p:nvSpPr>
          <p:spPr>
            <a:xfrm>
              <a:off x="867537" y="10386536"/>
              <a:ext cx="5696966" cy="708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720" dirty="0">
                  <a:solidFill>
                    <a:srgbClr val="15263D"/>
                  </a:solidFill>
                  <a:latin typeface="+mn-lt"/>
                  <a:ea typeface="+mn-ea"/>
                  <a:cs typeface="+mn-cs"/>
                </a:rPr>
                <a:t>每个分支只读取共享状态与本问题内的先前 token。</a:t>
              </a:r>
              <a:br/>
              <a:r>
                <a:rPr lang="zh-CN" sz="1720" dirty="0">
                  <a:solidFill>
                    <a:srgbClr val="15263D"/>
                  </a:solidFill>
                  <a:latin typeface="+mn-lt"/>
                  <a:ea typeface="+mn-ea"/>
                  <a:cs typeface="+mn-cs"/>
                </a:rPr>
                <a:t>各分支的位置编号均从状态末尾继续，问题之间互不可见。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67918" y="11128058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9"/>
                  </a:solidFill>
                  <a:latin typeface="+mn-lt"/>
                  <a:ea typeface="+mn-ea"/>
                  <a:cs typeface="+mn-cs"/>
                </a:rPr>
                <a:t>同一问题内的候选项默认按因果顺序可见。</a:t>
              </a:r>
            </a:p>
          </p:txBody>
        </p:sp>
      </p:grpSp>
      <p:grpSp>
        <p:nvGrpSpPr>
          <p:cNvPr id="108" name="pointer-and-calibration"/>
          <p:cNvGrpSpPr/>
          <p:nvPr/>
        </p:nvGrpSpPr>
        <p:grpSpPr>
          <a:xfrm>
            <a:off x="12620625" y="4048125"/>
            <a:ext cx="7724775" cy="7524750"/>
            <a:chOff x="12620625" y="4048125"/>
            <a:chExt cx="7724775" cy="7524750"/>
          </a:xfrm>
        </p:grpSpPr>
        <p:sp>
          <p:nvSpPr>
            <p:cNvPr id="88" name="Rectangle 88"/>
            <p:cNvSpPr/>
            <p:nvPr/>
          </p:nvSpPr>
          <p:spPr>
            <a:xfrm>
              <a:off x="12620625" y="4048125"/>
              <a:ext cx="7724775" cy="7524750"/>
            </a:xfrm>
            <a:prstGeom prst="roundRect">
              <a:avLst>
                <a:gd name="adj" fmla="val 1266"/>
              </a:avLst>
            </a:prstGeom>
            <a:solidFill>
              <a:srgbClr val="FFFFFF"/>
            </a:solidFill>
            <a:ln w="17145">
              <a:solidFill>
                <a:srgbClr val="BAC7D5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2895326" y="4251484"/>
              <a:ext cx="289878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20766C"/>
                  </a:solidFill>
                  <a:latin typeface="+mn-lt"/>
                  <a:ea typeface="+mn-ea"/>
                  <a:cs typeface="+mn-cs"/>
                </a:rPr>
                <a:t>C 指针打分与概率校准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897993" y="4679632"/>
              <a:ext cx="36778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9"/>
                  </a:solidFill>
                  <a:latin typeface="+mn-lt"/>
                  <a:ea typeface="+mn-ea"/>
                  <a:cs typeface="+mn-cs"/>
                </a:rPr>
                <a:t>对每个问题 i，在其 K 个候选项内计算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2915900" y="5124450"/>
              <a:ext cx="7143750" cy="1143000"/>
            </a:xfrm>
            <a:prstGeom prst="roundRect">
              <a:avLst>
                <a:gd name="adj" fmla="val 8333"/>
              </a:avLst>
            </a:prstGeom>
            <a:solidFill>
              <a:srgbClr val="EDF7F4"/>
            </a:solidFill>
            <a:ln w="17145">
              <a:solidFill>
                <a:srgbClr val="20766C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3135737" y="5319236"/>
              <a:ext cx="3342642" cy="7755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1720" dirty="0">
                  <a:solidFill>
                    <a:srgbClr val="15263D"/>
                  </a:solidFill>
                  <a:latin typeface="+mn-lt"/>
                  <a:ea typeface="+mn-ea"/>
                  <a:cs typeface="+mn-cs"/>
                </a:rPr>
                <a:t>问题隐状态：读取 &lt;decide&gt; 位置</a:t>
              </a:r>
              <a:br/>
              <a:r>
                <a:rPr lang="zh-CN" sz="1720" dirty="0">
                  <a:solidFill>
                    <a:srgbClr val="15263D"/>
                  </a:solidFill>
                  <a:latin typeface="+mn-lt"/>
                  <a:ea typeface="+mn-ea"/>
                  <a:cs typeface="+mn-cs"/>
                </a:rPr>
                <a:t>候选隐状态：读取每个 &lt;/opt&gt; 位置</a:t>
              </a:r>
            </a:p>
          </p:txBody>
        </p:sp>
        <p:grpSp>
          <p:nvGrpSpPr>
            <p:cNvPr id="96" name="pointer-connections"/>
            <p:cNvGrpSpPr/>
            <p:nvPr/>
          </p:nvGrpSpPr>
          <p:grpSpPr>
            <a:xfrm>
              <a:off x="16487775" y="6267450"/>
              <a:ext cx="1" cy="2752725"/>
              <a:chOff x="16487775" y="6267450"/>
              <a:chExt cx="1" cy="2752725"/>
            </a:xfrm>
          </p:grpSpPr>
          <p:sp>
            <p:nvSpPr>
              <p:cNvPr id="93" name="Line 93"/>
              <p:cNvSpPr/>
              <p:nvPr/>
            </p:nvSpPr>
            <p:spPr>
              <a:xfrm>
                <a:off x="16487775" y="6267450"/>
                <a:ext cx="1" cy="304800"/>
              </a:xfrm>
              <a:prstGeom prst="line">
                <a:avLst/>
              </a:prstGeom>
              <a:noFill/>
              <a:ln w="21908">
                <a:solidFill>
                  <a:srgbClr val="20766C"/>
                </a:solidFill>
                <a:tailEnd type="triangle" w="lg" len="lg"/>
              </a:ln>
            </p:spPr>
          </p:sp>
          <p:sp>
            <p:nvSpPr>
              <p:cNvPr id="94" name="Line 94"/>
              <p:cNvSpPr/>
              <p:nvPr/>
            </p:nvSpPr>
            <p:spPr>
              <a:xfrm>
                <a:off x="16487775" y="7515225"/>
                <a:ext cx="1" cy="304800"/>
              </a:xfrm>
              <a:prstGeom prst="line">
                <a:avLst/>
              </a:prstGeom>
              <a:noFill/>
              <a:ln w="21908">
                <a:solidFill>
                  <a:srgbClr val="20766C"/>
                </a:solidFill>
                <a:tailEnd type="triangle" w="lg" len="lg"/>
              </a:ln>
            </p:spPr>
          </p:sp>
          <p:sp>
            <p:nvSpPr>
              <p:cNvPr id="95" name="Line 95"/>
              <p:cNvSpPr/>
              <p:nvPr/>
            </p:nvSpPr>
            <p:spPr>
              <a:xfrm>
                <a:off x="16487775" y="8715375"/>
                <a:ext cx="1" cy="304800"/>
              </a:xfrm>
              <a:prstGeom prst="line">
                <a:avLst/>
              </a:prstGeom>
              <a:noFill/>
              <a:ln w="21908">
                <a:solidFill>
                  <a:srgbClr val="20766C"/>
                </a:solidFill>
                <a:tailEnd type="triangle" w="lg" len="lg"/>
              </a:ln>
            </p:spPr>
          </p:sp>
        </p:grpSp>
        <p:sp>
          <p:nvSpPr>
            <p:cNvPr id="97" name="Rectangle 97"/>
            <p:cNvSpPr/>
            <p:nvPr/>
          </p:nvSpPr>
          <p:spPr>
            <a:xfrm>
              <a:off x="12915900" y="6572250"/>
              <a:ext cx="7143750" cy="942975"/>
            </a:xfrm>
            <a:prstGeom prst="roundRect">
              <a:avLst>
                <a:gd name="adj" fmla="val 10101"/>
              </a:avLst>
            </a:prstGeom>
            <a:solidFill>
              <a:srgbClr val="F8FAFC"/>
            </a:solidFill>
            <a:ln w="17145">
              <a:solidFill>
                <a:srgbClr val="BAC7D5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projection-equation"/>
                <p:cNvSpPr txBox="1">
                  <a:spLocks noGrp="1"/>
                </p:cNvSpPr>
                <p:nvPr/>
              </p:nvSpPr>
              <p:spPr>
                <a:xfrm>
                  <a:off x="13144500" y="6629400"/>
                  <a:ext cx="6686550" cy="485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23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23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2320" dirty="0">
                            <a:solidFill>
                              <a:srgbClr val="15263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2320" dirty="0">
                            <a:solidFill>
                              <a:srgbClr val="15263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23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2320" dirty="0">
                                    <a:solidFill>
                                      <a:srgbClr val="15263D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2320" dirty="0">
                                    <a:solidFill>
                                      <a:srgbClr val="15263D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r>
                                  <a:rPr lang="zh-CN" sz="2320" dirty="0">
                                    <a:solidFill>
                                      <a:srgbClr val="15263D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sup>
                            </m:sSubSup>
                          </m:e>
                        </m:d>
                        <m:r>
                          <a:rPr lang="zh-CN" sz="2320" dirty="0">
                            <a:solidFill>
                              <a:srgbClr val="15263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23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  <m:sub>
                            <m:r>
                              <a:rPr lang="zh-CN" sz="23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2320" dirty="0">
                            <a:solidFill>
                              <a:srgbClr val="15263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2320" dirty="0">
                            <a:solidFill>
                              <a:srgbClr val="15263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23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2320" dirty="0">
                                    <a:solidFill>
                                      <a:srgbClr val="15263D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zh-CN" sz="2320" dirty="0">
                                    <a:solidFill>
                                      <a:srgbClr val="15263D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  <m:sup>
                                <m:r>
                                  <a:rPr lang="zh-CN" sz="2320" dirty="0">
                                    <a:solidFill>
                                      <a:srgbClr val="15263D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O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99" name="TextBox 99"/>
            <p:cNvSpPr txBox="1"/>
            <p:nvPr/>
          </p:nvSpPr>
          <p:spPr>
            <a:xfrm>
              <a:off x="14536370" y="7126129"/>
              <a:ext cx="39028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526379"/>
                  </a:solidFill>
                  <a:latin typeface="+mn-lt"/>
                  <a:ea typeface="+mn-ea"/>
                  <a:cs typeface="+mn-cs"/>
                </a:rPr>
                <a:t>Q、K 为可学习线性投影，输出维度为 d_p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2915900" y="7820025"/>
              <a:ext cx="7143750" cy="895350"/>
            </a:xfrm>
            <a:prstGeom prst="roundRect">
              <a:avLst>
                <a:gd name="adj" fmla="val 10638"/>
              </a:avLst>
            </a:prstGeom>
            <a:solidFill>
              <a:srgbClr val="EDF7F4"/>
            </a:solidFill>
            <a:ln w="17145">
              <a:solidFill>
                <a:srgbClr val="20766C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score-equation"/>
                <p:cNvSpPr txBox="1">
                  <a:spLocks noGrp="1"/>
                </p:cNvSpPr>
                <p:nvPr/>
              </p:nvSpPr>
              <p:spPr>
                <a:xfrm>
                  <a:off x="13144500" y="7848600"/>
                  <a:ext cx="668655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248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  <m:sub>
                            <m:r>
                              <a:rPr lang="zh-CN" sz="248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2480" dirty="0">
                            <a:solidFill>
                              <a:srgbClr val="20766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248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  <m:sub>
                            <m:r>
                              <a:rPr lang="zh-CN" sz="248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  <m:sup>
                            <m:r>
                              <a:rPr lang="zh-CN" sz="248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bSup>
                        <m:sSub>
                          <m:e>
                            <m:r>
                              <a:rPr lang="zh-CN" sz="248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248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2480" dirty="0">
                            <a:solidFill>
                              <a:srgbClr val="20766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zh-CN" sz="248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zh-CN" sz="2480" dirty="0">
                                    <a:solidFill>
                                      <a:srgbClr val="20766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zh-CN" sz="2480" dirty="0">
                                    <a:solidFill>
                                      <a:srgbClr val="20766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e>
                        </m:ra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02" name="TextBox 102"/>
            <p:cNvSpPr txBox="1"/>
            <p:nvPr/>
          </p:nvSpPr>
          <p:spPr>
            <a:xfrm>
              <a:off x="14884527" y="8335804"/>
              <a:ext cx="32064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526379"/>
                  </a:solidFill>
                  <a:latin typeface="+mn-lt"/>
                  <a:ea typeface="+mn-ea"/>
                  <a:cs typeface="+mn-cs"/>
                </a:rPr>
                <a:t>缩放点积得到各候选项的原始分数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12915900" y="9020175"/>
              <a:ext cx="7143750" cy="952500"/>
            </a:xfrm>
            <a:prstGeom prst="roundRect">
              <a:avLst>
                <a:gd name="adj" fmla="val 10000"/>
              </a:avLst>
            </a:prstGeom>
            <a:solidFill>
              <a:srgbClr val="EDF7F4"/>
            </a:solidFill>
            <a:ln w="17145">
              <a:solidFill>
                <a:srgbClr val="20766C"/>
              </a:solidFill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probability-equation"/>
                <p:cNvSpPr txBox="1">
                  <a:spLocks noGrp="1"/>
                </p:cNvSpPr>
                <p:nvPr/>
              </p:nvSpPr>
              <p:spPr>
                <a:xfrm>
                  <a:off x="12992100" y="9048750"/>
                  <a:ext cx="699135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210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210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2100" dirty="0">
                            <a:solidFill>
                              <a:srgbClr val="20766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210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2100" dirty="0">
                                    <a:solidFill>
                                      <a:srgbClr val="20766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2100" dirty="0">
                                        <a:solidFill>
                                          <a:srgbClr val="20766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zh-CN" sz="2100" dirty="0">
                                        <a:solidFill>
                                          <a:srgbClr val="20766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2100" dirty="0">
                                    <a:solidFill>
                                      <a:srgbClr val="20766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2100" dirty="0">
                                    <a:solidFill>
                                      <a:srgbClr val="20766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2100" dirty="0">
                            <a:solidFill>
                              <a:srgbClr val="20766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210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2100" dirty="0">
                                <a:solidFill>
                                  <a:srgbClr val="20766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  <m:sup/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2100" dirty="0">
                                    <a:solidFill>
                                      <a:srgbClr val="20766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2100" dirty="0">
                                        <a:solidFill>
                                          <a:srgbClr val="20766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2100" dirty="0">
                                            <a:solidFill>
                                              <a:srgbClr val="20766C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a:rPr lang="zh-CN" sz="2100" dirty="0">
                                            <a:solidFill>
                                              <a:srgbClr val="20766C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ik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2100" dirty="0">
                                        <a:solidFill>
                                          <a:srgbClr val="20766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2100" dirty="0">
                                        <a:solidFill>
                                          <a:srgbClr val="20766C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</m:e>
                            </m:func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05" name="TextBox 105"/>
            <p:cNvSpPr txBox="1"/>
            <p:nvPr/>
          </p:nvSpPr>
          <p:spPr>
            <a:xfrm>
              <a:off x="14884527" y="9593104"/>
              <a:ext cx="32064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526379"/>
                  </a:solidFill>
                  <a:latin typeface="+mn-lt"/>
                  <a:ea typeface="+mn-ea"/>
                  <a:cs typeface="+mn-cs"/>
                </a:rPr>
                <a:t>在当前问题的候选项集合内归一化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2897612" y="10215086"/>
              <a:ext cx="332707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5263D"/>
                  </a:solidFill>
                  <a:latin typeface="+mn-lt"/>
                  <a:ea typeface="+mn-ea"/>
                  <a:cs typeface="+mn-cs"/>
                </a:rPr>
                <a:t>T &gt; 0 为检查点携带的校准温度。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2897612" y="10586561"/>
              <a:ext cx="4327981" cy="680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720" dirty="0">
                  <a:solidFill>
                    <a:srgbClr val="15263D"/>
                  </a:solidFill>
                  <a:latin typeface="+mn-lt"/>
                  <a:ea typeface="+mn-ea"/>
                  <a:cs typeface="+mn-cs"/>
                </a:rPr>
                <a:t>T 调整分布的尖锐程度，保持本问题的</a:t>
              </a:r>
              <a:br/>
              <a:r>
                <a:rPr lang="zh-CN" sz="1720" dirty="0">
                  <a:solidFill>
                    <a:srgbClr val="15263D"/>
                  </a:solidFill>
                  <a:latin typeface="+mn-lt"/>
                  <a:ea typeface="+mn-ea"/>
                  <a:cs typeface="+mn-cs"/>
                </a:rPr>
                <a:t>最大分数候选项不变，各选项概率之和为 1。</a:t>
              </a:r>
            </a:p>
          </p:txBody>
        </p:sp>
      </p:grpSp>
      <p:grpSp>
        <p:nvGrpSpPr>
          <p:cNvPr id="126" name="task-specific-answers"/>
          <p:cNvGrpSpPr/>
          <p:nvPr/>
        </p:nvGrpSpPr>
        <p:grpSpPr>
          <a:xfrm>
            <a:off x="609600" y="11934825"/>
            <a:ext cx="19735800" cy="1885950"/>
            <a:chOff x="609600" y="11934825"/>
            <a:chExt cx="19735800" cy="1885950"/>
          </a:xfrm>
        </p:grpSpPr>
        <p:sp>
          <p:nvSpPr>
            <p:cNvPr id="109" name="Rectangle 109"/>
            <p:cNvSpPr/>
            <p:nvPr/>
          </p:nvSpPr>
          <p:spPr>
            <a:xfrm>
              <a:off x="609600" y="11934825"/>
              <a:ext cx="19735800" cy="1885950"/>
            </a:xfrm>
            <a:prstGeom prst="roundRect">
              <a:avLst>
                <a:gd name="adj" fmla="val 5051"/>
              </a:avLst>
            </a:prstGeom>
            <a:solidFill>
              <a:srgbClr val="FFFFFF"/>
            </a:solidFill>
            <a:ln w="17145">
              <a:solidFill>
                <a:srgbClr val="BAC7D5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56107" y="12146280"/>
              <a:ext cx="42304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45B92"/>
                  </a:solidFill>
                  <a:latin typeface="+mn-lt"/>
                  <a:ea typeface="+mn-ea"/>
                  <a:cs typeface="+mn-cs"/>
                </a:rPr>
                <a:t>D 按任务类型解释同一组候选概率</a:t>
              </a:r>
            </a:p>
          </p:txBody>
        </p:sp>
        <p:grpSp>
          <p:nvGrpSpPr>
            <p:cNvPr id="114" name="noul-answer"/>
            <p:cNvGrpSpPr/>
            <p:nvPr/>
          </p:nvGrpSpPr>
          <p:grpSpPr>
            <a:xfrm>
              <a:off x="866775" y="12589669"/>
              <a:ext cx="1944491" cy="1096518"/>
              <a:chOff x="866775" y="12589669"/>
              <a:chExt cx="1944491" cy="1096518"/>
            </a:xfrm>
          </p:grpSpPr>
          <p:sp>
            <p:nvSpPr>
              <p:cNvPr id="111" name="TextBox 111"/>
              <p:cNvSpPr txBox="1"/>
              <p:nvPr/>
            </p:nvSpPr>
            <p:spPr>
              <a:xfrm>
                <a:off x="866775" y="12589669"/>
                <a:ext cx="1078031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dirty="0">
                    <a:solidFill>
                      <a:srgbClr val="20766C"/>
                    </a:solidFill>
                    <a:latin typeface="+mn-lt"/>
                    <a:ea typeface="+mn-ea"/>
                    <a:cs typeface="+mn-cs"/>
                  </a:rPr>
                  <a:t>判断 Noul</a:t>
                </a: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867918" y="12985432"/>
                <a:ext cx="194334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526379"/>
                    </a:solidFill>
                    <a:latin typeface="+mn-lt"/>
                    <a:ea typeface="+mn-ea"/>
                    <a:cs typeface="+mn-cs"/>
                  </a:rPr>
                  <a:t>候选项为 false / true</a:t>
                </a: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867537" y="13348811"/>
                <a:ext cx="1190193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rgbClr val="15263D"/>
                    </a:solidFill>
                    <a:latin typeface="+mn-lt"/>
                    <a:ea typeface="+mn-ea"/>
                    <a:cs typeface="+mn-cs"/>
                  </a:rPr>
                  <a:t>输出 p(true)</a:t>
                </a:r>
              </a:p>
            </p:txBody>
          </p:sp>
        </p:grpSp>
        <p:grpSp>
          <p:nvGrpSpPr>
            <p:cNvPr id="118" name="choice-answer"/>
            <p:cNvGrpSpPr/>
            <p:nvPr/>
          </p:nvGrpSpPr>
          <p:grpSpPr>
            <a:xfrm>
              <a:off x="7400925" y="12589669"/>
              <a:ext cx="3009173" cy="1096518"/>
              <a:chOff x="7400925" y="12589669"/>
              <a:chExt cx="3009173" cy="1096518"/>
            </a:xfrm>
          </p:grpSpPr>
          <p:sp>
            <p:nvSpPr>
              <p:cNvPr id="115" name="TextBox 115"/>
              <p:cNvSpPr txBox="1"/>
              <p:nvPr/>
            </p:nvSpPr>
            <p:spPr>
              <a:xfrm>
                <a:off x="7400925" y="12589669"/>
                <a:ext cx="1281933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dirty="0">
                    <a:solidFill>
                      <a:srgbClr val="20766C"/>
                    </a:solidFill>
                    <a:latin typeface="+mn-lt"/>
                    <a:ea typeface="+mn-ea"/>
                    <a:cs typeface="+mn-cs"/>
                  </a:rPr>
                  <a:t>选择 Choice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7402068" y="12985432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526379"/>
                    </a:solidFill>
                    <a:latin typeface="+mn-lt"/>
                    <a:ea typeface="+mn-ea"/>
                    <a:cs typeface="+mn-cs"/>
                  </a:rPr>
                  <a:t>候选项为给定类别或动作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7401687" y="13348811"/>
                <a:ext cx="3008411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rgbClr val="15263D"/>
                    </a:solidFill>
                    <a:latin typeface="+mn-lt"/>
                    <a:ea typeface="+mn-ea"/>
                    <a:cs typeface="+mn-cs"/>
                  </a:rPr>
                  <a:t>输出 argmax_j p_ij 与选项概率</a:t>
                </a:r>
              </a:p>
            </p:txBody>
          </p:sp>
        </p:grpSp>
        <p:grpSp>
          <p:nvGrpSpPr>
            <p:cNvPr id="122" name="score-answer"/>
            <p:cNvGrpSpPr/>
            <p:nvPr/>
          </p:nvGrpSpPr>
          <p:grpSpPr>
            <a:xfrm>
              <a:off x="14039850" y="12589669"/>
              <a:ext cx="3068185" cy="1133103"/>
              <a:chOff x="14039850" y="12589669"/>
              <a:chExt cx="3068185" cy="1133103"/>
            </a:xfrm>
          </p:grpSpPr>
          <p:sp>
            <p:nvSpPr>
              <p:cNvPr id="119" name="TextBox 119"/>
              <p:cNvSpPr txBox="1"/>
              <p:nvPr/>
            </p:nvSpPr>
            <p:spPr>
              <a:xfrm>
                <a:off x="14039850" y="12589669"/>
                <a:ext cx="1160491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dirty="0">
                    <a:solidFill>
                      <a:srgbClr val="20766C"/>
                    </a:solidFill>
                    <a:latin typeface="+mn-lt"/>
                    <a:ea typeface="+mn-ea"/>
                    <a:cs typeface="+mn-cs"/>
                  </a:rPr>
                  <a:t>评分 Score</a:t>
                </a:r>
              </a:p>
            </p:txBody>
          </p:sp>
          <p:sp>
            <p:nvSpPr>
              <p:cNvPr id="120" name="TextBox 120"/>
              <p:cNvSpPr txBox="1"/>
              <p:nvPr/>
            </p:nvSpPr>
            <p:spPr>
              <a:xfrm>
                <a:off x="14040993" y="12985432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526379"/>
                    </a:solidFill>
                    <a:latin typeface="+mn-lt"/>
                    <a:ea typeface="+mn-ea"/>
                    <a:cs typeface="+mn-cs"/>
                  </a:rPr>
                  <a:t>候选项为从低到高的等级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" name="TextBox 121"/>
                  <p:cNvSpPr txBox="1"/>
                  <p:nvPr/>
                </p:nvSpPr>
                <p:spPr>
                  <a:xfrm>
                    <a:off x="14040612" y="13304996"/>
                    <a:ext cx="3067423" cy="41777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720" dirty="0">
                        <a:solidFill>
                          <a:srgbClr val="15263D"/>
                        </a:solidFill>
                        <a:latin typeface="+mn-lt"/>
                        <a:ea typeface="+mn-ea"/>
                        <a:cs typeface="+mn-cs"/>
                      </a:rPr>
                      <a:t xml:space="preserve">输出 </a:t>
                    </a:r>
                    <a14:m>
                      <m:oMath xmlns:a="http://schemas.openxmlformats.org/drawingml/2006/main" xmlns:m="http://schemas.openxmlformats.org/officeDocument/2006/math">
                        <m:nary>
                          <m:naryPr>
                            <m:chr m:val="∑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7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7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r>
                              <a:rPr lang="zh-CN" sz="17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5263D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5263D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</m:oMath>
                    </a14:m>
                    <a:r>
                      <a:rPr lang="zh-CN" sz="1720" dirty="0">
                        <a:solidFill>
                          <a:srgbClr val="15263D"/>
                        </a:solidFill>
                        <a:latin typeface="+mn-lt"/>
                        <a:ea typeface="+mn-ea"/>
                        <a:cs typeface="+mn-cs"/>
                      </a:rPr>
                      <a:t>，等级从 0 开始</a:t>
                    </a:r>
                  </a:p>
                </p:txBody>
              </p:sp>
            </mc:Choice>
          </mc:AlternateContent>
        </p:grpSp>
        <p:grpSp>
          <p:nvGrpSpPr>
            <p:cNvPr id="125" name="answer-dividers"/>
            <p:cNvGrpSpPr/>
            <p:nvPr/>
          </p:nvGrpSpPr>
          <p:grpSpPr>
            <a:xfrm>
              <a:off x="7067550" y="12601575"/>
              <a:ext cx="6648450" cy="990600"/>
              <a:chOff x="7067550" y="12601575"/>
              <a:chExt cx="6648450" cy="990600"/>
            </a:xfrm>
          </p:grpSpPr>
          <p:sp>
            <p:nvSpPr>
              <p:cNvPr id="123" name="Line 123"/>
              <p:cNvSpPr/>
              <p:nvPr/>
            </p:nvSpPr>
            <p:spPr>
              <a:xfrm>
                <a:off x="7067550" y="12601575"/>
                <a:ext cx="9525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90600">
                    <a:moveTo>
                      <a:pt x="0" y="0"/>
                    </a:moveTo>
                    <a:lnTo>
                      <a:pt x="0" y="990600"/>
                    </a:lnTo>
                  </a:path>
                </a:pathLst>
              </a:custGeom>
              <a:noFill/>
              <a:ln w="14288">
                <a:solidFill>
                  <a:srgbClr val="BAC7D5"/>
                </a:solidFill>
              </a:ln>
            </p:spPr>
          </p:sp>
          <p:sp>
            <p:nvSpPr>
              <p:cNvPr id="124" name="Line 124"/>
              <p:cNvSpPr/>
              <p:nvPr/>
            </p:nvSpPr>
            <p:spPr>
              <a:xfrm>
                <a:off x="13706475" y="12601575"/>
                <a:ext cx="9525" cy="990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90600">
                    <a:moveTo>
                      <a:pt x="0" y="0"/>
                    </a:moveTo>
                    <a:lnTo>
                      <a:pt x="0" y="990600"/>
                    </a:lnTo>
                  </a:path>
                </a:pathLst>
              </a:custGeom>
              <a:noFill/>
              <a:ln w="14288">
                <a:solidFill>
                  <a:srgbClr val="BAC7D5"/>
                </a:solidFill>
              </a:ln>
            </p:spPr>
          </p:sp>
        </p:grpSp>
      </p:grpSp>
      <p:grpSp>
        <p:nvGrpSpPr>
          <p:cNvPr id="128" name="scope-and-caveats"/>
          <p:cNvGrpSpPr/>
          <p:nvPr/>
        </p:nvGrpSpPr>
        <p:grpSpPr>
          <a:xfrm>
            <a:off x="601599" y="14079379"/>
            <a:ext cx="7440422" cy="641414"/>
            <a:chOff x="601599" y="14079379"/>
            <a:chExt cx="7440422" cy="641414"/>
          </a:xfrm>
        </p:grpSpPr>
        <p:sp>
          <p:nvSpPr>
            <p:cNvPr id="127" name="TextBox 127"/>
            <p:cNvSpPr txBox="1"/>
            <p:nvPr/>
          </p:nvSpPr>
          <p:spPr>
            <a:xfrm>
              <a:off x="601599" y="14079379"/>
              <a:ext cx="7440422" cy="641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CN" sz="1580" dirty="0">
                  <a:solidFill>
                    <a:srgbClr val="526379"/>
                  </a:solidFill>
                  <a:latin typeface="+mn-lt"/>
                  <a:ea typeface="+mn-ea"/>
                  <a:cs typeface="+mn-cs"/>
                </a:rPr>
                <a:t>注：图示为当前文本版在线推理。纯注意力骨干也可用分块因果掩码实现问题隔离。</a:t>
              </a:r>
              <a:br/>
              <a:r>
                <a:rPr lang="zh-CN" sz="1580" dirty="0">
                  <a:solidFill>
                    <a:srgbClr val="526379"/>
                  </a:solidFill>
                  <a:latin typeface="+mn-lt"/>
                  <a:ea typeface="+mn-ea"/>
                  <a:cs typeface="+mn-cs"/>
                </a:rPr>
                <a:t>算法直接读取候选概率，不进行逐 token 文本生成；题内选项顺序仍可能影响结果。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kev-decision-query">
  <a:themeElements>
    <a:clrScheme name="kev-decision-quer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ev-decision-query">
      <a:maj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ev-decision-que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2026-10-22T11:47:11Z</dcterms:created>
  <dcterms:modified xsi:type="dcterms:W3CDTF">2026-10-22T11:47:11Z</dcterms:modified>
  <cp:category/>
  <cp:contentStatus/>
</cp:coreProperties>
</file>